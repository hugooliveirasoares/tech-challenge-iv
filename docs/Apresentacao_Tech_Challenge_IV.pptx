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JetBrainsMono NF"/>
              </a:rPr>
              <a:t>Click to move the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JetBrainsMono NF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C61C5A1-259D-4C9E-92AA-45114B6F829C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FreeSans"/>
              </a:rPr>
              <a:t>Boa noite tudo bem, sou o Hugo e irei apresentar o projeto desenvolvido para o tech challenge 4.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FreeSans"/>
              </a:rPr>
              <a:t>O projeto foi desenvolvido em grupo mim, Hugo, por Lucas Silva e Matheus Santos.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FreeSans"/>
              </a:rPr>
              <a:t>Este projeto é uma plataforma de feedback educacional construída com Java, Quarkus e serviços serverless da AWS. A solução recebe avaliações dos estudantes, classifica automaticamente sua urgência, notifica os administradores sobre casos críticos e gera relatórios semanais.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C29C05-3348-49C5-955E-D422AABEFF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FreeSans"/>
              </a:rPr>
              <a:t>Vamos começar falando sobre a cloud escolhida.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FreeSans"/>
              </a:rPr>
              <a:t>Nos escolhemos a AWS com o modelo serverless. Nesse modelo, não precisamos manter servidores executando continuamente, e os recursos escalam conforme a demanda. Além disso, cada necessidade é atendida por um serviço gerenciado: Lambda para processamento, DynamoDB para dados, SNS para eventos, SES para e-mails e CloudWatch para monitoramento.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7602BE-864B-4C78-8837-1EF9D1A0B0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Dos componentes da aplicação temos o API Gateway que é responsavel pela entrada da aplicação. A função feedback-api processa a avaliação e grava o resultado no DynamoDB. O SNS distribui os eventos críticos para a função de notificação(critical-notifier), e o SES envia os e-mails. O EventBridge agenda o relatório semanal, enquanto CloudWatch e IAM cuidam da observabilidade e das permissões.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5AA664-E19D-47F1-8327-194515742F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arquitetura possui três fluxos principais. No primeiro, o estudante envia uma avaliação pelo API Gateway, que aciona a feedback-api e persiste o dado no DynamoDB. Se o feedback for crítico, um evento é publicado no SNS e processado pela critical-notifier, que envia o alerta pelo SES. Paralelamente, o EventBridge executa a weekly-report, que consulta os dados e envia o relatório semanal. Todos esses componentes são acompanhados pelo CloudWatch.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A3F476-7BE8-441E-99AD-E0F4C2069D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três funções seguem o princípio de responsabilidade única. A feedback-api atende requisições HTTP, valida e registra avaliações. A critical-notifier reage aos eventos do SNS e envia alertas. Já a weekly-report é acionada pelo EventBridge para consolidar os dados da semana. Essa separação permite que cada fluxo seja escalado e monitorado independentemente.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036A2C2-1536-4048-BC85-69C8727938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estudante envia uma descrição e uma nota para o endpoint POST avaliação. A API valida os dados, gera o identificador e a data de envio e classifica a urgência. Notas de zero a três são críticas, de quatro a seis são médias e de sete a dez são baixas. Depois, o feedback é persistido e a API retorna o status 201. Nos casos críticos, também é publicado um evento no SNS.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97BD82-54B8-42B0-9E2B-18F932665B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notificação é assíncrona para não aumentar o tempo de resposta da API. O SNS recebe o evento crítico e aciona a critical-notifier. Essa função monta a mensagem e solicita o envio ao Amazon SES. O administrador recebe um e-mail contendo a descrição do feedback, sua urgência e a data de envio.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F952357-73B8-45D7-A18F-2F118E8FAB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EventBridge inicia o relatório semanal automaticamente. A weekly-report consulta os feedbacks do período no DynamoDB e calcula a média das notas, a quantidade por dia e a quantidade por urgência. O relatório também apresenta a lista dos feedbacks e destaca os casos críticos. Após a consolidação, o resultado é enviado ao administrador pelo Amazon SES.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31D9CA-8CED-45EA-8466-BE6AA4D631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 resumo, a plataforma recebe o feedback, classifica sua urgência, persiste o dado, notifica situações críticas e consolida os resultados semanalmente. O CloudWatch acompanha invocações, erros e outros sinais operacionais. Assim, a arquitetura serverless transforma avaliações individuais em informações úteis para a administração.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5090F8-C9A3-41A1-97C7-CE0F7D20D6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11292840" y="6473880"/>
            <a:ext cx="410760" cy="16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64BB21-6820-422D-A2BB-532FA098B85C}" type="slidenum">
              <a: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&lt;number&gt;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JetBrainsMono NF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JetBrainsMono NF"/>
              </a:rPr>
              <a:t>Click to edit the title text format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JetBrainsMono N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JetBrainsMono NF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JetBrainsMono NF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JetBrainsMono NF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JetBrainsMono NF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JetBrainsMono NF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JetBrainsMono NF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JetBrainsMono NF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JetBrainsMono NF"/>
              </a:rPr>
              <a:t>Click to edit the outline text format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JetBrainsMono NF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JetBrainsMono NF"/>
              </a:rPr>
              <a:t>Second Outline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JetBrainsMono NF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JetBrainsMono NF"/>
              </a:rPr>
              <a:t>Third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JetBrainsMono NF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JetBrainsMono NF"/>
              </a:rPr>
              <a:t>Fourth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JetBrainsMono NF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JetBrainsMono NF"/>
              </a:rPr>
              <a:t>Fifth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JetBrainsMono NF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JetBrainsMono NF"/>
              </a:rPr>
              <a:t>Sixth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JetBrainsMono NF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JetBrainsMono NF"/>
              </a:rPr>
              <a:t>Seventh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JetBrainsMono N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6537960" y="640080"/>
            <a:ext cx="90720" cy="90720"/>
          </a:xfrm>
          <a:prstGeom prst="ellipse">
            <a:avLst/>
          </a:prstGeom>
          <a:solidFill>
            <a:srgbClr val="FF9D3D"/>
          </a:solidFill>
          <a:ln w="12700">
            <a:solidFill>
              <a:srgbClr val="FF9D3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6629400" y="68580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7360920" y="731520"/>
            <a:ext cx="90720" cy="90720"/>
          </a:xfrm>
          <a:prstGeom prst="ellipse">
            <a:avLst/>
          </a:prstGeom>
          <a:solidFill>
            <a:srgbClr val="25C2D4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3"/>
          <p:cNvSpPr/>
          <p:nvPr/>
        </p:nvSpPr>
        <p:spPr>
          <a:xfrm flipV="1">
            <a:off x="7452360" y="68580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8183880" y="640080"/>
            <a:ext cx="90720" cy="90720"/>
          </a:xfrm>
          <a:prstGeom prst="ellipse">
            <a:avLst/>
          </a:prstGeom>
          <a:solidFill>
            <a:srgbClr val="C93030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8275320" y="68580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9006840" y="731520"/>
            <a:ext cx="90720" cy="90720"/>
          </a:xfrm>
          <a:prstGeom prst="ellipse">
            <a:avLst/>
          </a:prstGeom>
          <a:solidFill>
            <a:srgbClr val="51D39A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7"/>
          <p:cNvSpPr/>
          <p:nvPr/>
        </p:nvSpPr>
        <p:spPr>
          <a:xfrm flipV="1">
            <a:off x="9098280" y="68580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8"/>
          <p:cNvSpPr/>
          <p:nvPr/>
        </p:nvSpPr>
        <p:spPr>
          <a:xfrm>
            <a:off x="9829800" y="640080"/>
            <a:ext cx="90720" cy="90720"/>
          </a:xfrm>
          <a:prstGeom prst="ellipse">
            <a:avLst/>
          </a:prstGeom>
          <a:solidFill>
            <a:srgbClr val="25C2D4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9921240" y="68580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0"/>
          <p:cNvSpPr/>
          <p:nvPr/>
        </p:nvSpPr>
        <p:spPr>
          <a:xfrm>
            <a:off x="10652760" y="731520"/>
            <a:ext cx="90720" cy="90720"/>
          </a:xfrm>
          <a:prstGeom prst="ellipse">
            <a:avLst/>
          </a:prstGeom>
          <a:solidFill>
            <a:srgbClr val="FF9D3D"/>
          </a:solidFill>
          <a:ln w="12700">
            <a:solidFill>
              <a:srgbClr val="FF9D3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1"/>
          <p:cNvSpPr/>
          <p:nvPr/>
        </p:nvSpPr>
        <p:spPr>
          <a:xfrm>
            <a:off x="6537960" y="1664280"/>
            <a:ext cx="90720" cy="90720"/>
          </a:xfrm>
          <a:prstGeom prst="ellipse">
            <a:avLst/>
          </a:prstGeom>
          <a:solidFill>
            <a:srgbClr val="25C2D4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2"/>
          <p:cNvSpPr/>
          <p:nvPr/>
        </p:nvSpPr>
        <p:spPr>
          <a:xfrm>
            <a:off x="6629400" y="170964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3"/>
          <p:cNvSpPr/>
          <p:nvPr/>
        </p:nvSpPr>
        <p:spPr>
          <a:xfrm>
            <a:off x="7360920" y="1755720"/>
            <a:ext cx="90720" cy="90720"/>
          </a:xfrm>
          <a:prstGeom prst="ellipse">
            <a:avLst/>
          </a:prstGeom>
          <a:solidFill>
            <a:srgbClr val="51D39A"/>
          </a:solidFill>
          <a:ln w="12700">
            <a:solidFill>
              <a:srgbClr val="51D39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4"/>
          <p:cNvSpPr/>
          <p:nvPr/>
        </p:nvSpPr>
        <p:spPr>
          <a:xfrm flipV="1">
            <a:off x="7452360" y="170964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8183880" y="1664280"/>
            <a:ext cx="90720" cy="90720"/>
          </a:xfrm>
          <a:prstGeom prst="ellipse">
            <a:avLst/>
          </a:prstGeom>
          <a:solidFill>
            <a:srgbClr val="25C2D4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6"/>
          <p:cNvSpPr/>
          <p:nvPr/>
        </p:nvSpPr>
        <p:spPr>
          <a:xfrm>
            <a:off x="8275320" y="170964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7"/>
          <p:cNvSpPr/>
          <p:nvPr/>
        </p:nvSpPr>
        <p:spPr>
          <a:xfrm>
            <a:off x="9006840" y="1755720"/>
            <a:ext cx="90720" cy="90720"/>
          </a:xfrm>
          <a:prstGeom prst="ellipse">
            <a:avLst/>
          </a:prstGeom>
          <a:solidFill>
            <a:srgbClr val="C93030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8"/>
          <p:cNvSpPr/>
          <p:nvPr/>
        </p:nvSpPr>
        <p:spPr>
          <a:xfrm flipV="1">
            <a:off x="9098280" y="170964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9829800" y="1664280"/>
            <a:ext cx="90720" cy="90720"/>
          </a:xfrm>
          <a:prstGeom prst="ellipse">
            <a:avLst/>
          </a:prstGeom>
          <a:solidFill>
            <a:srgbClr val="FF9D3D"/>
          </a:solidFill>
          <a:ln w="12700">
            <a:solidFill>
              <a:srgbClr val="FF9D3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9921240" y="170964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1"/>
          <p:cNvSpPr/>
          <p:nvPr/>
        </p:nvSpPr>
        <p:spPr>
          <a:xfrm>
            <a:off x="10652760" y="1755720"/>
            <a:ext cx="90720" cy="90720"/>
          </a:xfrm>
          <a:prstGeom prst="ellipse">
            <a:avLst/>
          </a:prstGeom>
          <a:solidFill>
            <a:srgbClr val="25C2D4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2"/>
          <p:cNvSpPr/>
          <p:nvPr/>
        </p:nvSpPr>
        <p:spPr>
          <a:xfrm>
            <a:off x="6537960" y="2688480"/>
            <a:ext cx="90720" cy="90720"/>
          </a:xfrm>
          <a:prstGeom prst="ellipse">
            <a:avLst/>
          </a:prstGeom>
          <a:solidFill>
            <a:srgbClr val="25C2D4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3"/>
          <p:cNvSpPr/>
          <p:nvPr/>
        </p:nvSpPr>
        <p:spPr>
          <a:xfrm>
            <a:off x="6629400" y="273384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4"/>
          <p:cNvSpPr/>
          <p:nvPr/>
        </p:nvSpPr>
        <p:spPr>
          <a:xfrm>
            <a:off x="7360920" y="2779920"/>
            <a:ext cx="90720" cy="90720"/>
          </a:xfrm>
          <a:prstGeom prst="ellipse">
            <a:avLst/>
          </a:prstGeom>
          <a:solidFill>
            <a:srgbClr val="FF3838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5"/>
          <p:cNvSpPr/>
          <p:nvPr/>
        </p:nvSpPr>
        <p:spPr>
          <a:xfrm flipV="1">
            <a:off x="7452360" y="273384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6"/>
          <p:cNvSpPr/>
          <p:nvPr/>
        </p:nvSpPr>
        <p:spPr>
          <a:xfrm>
            <a:off x="8183880" y="2688480"/>
            <a:ext cx="90720" cy="90720"/>
          </a:xfrm>
          <a:prstGeom prst="ellipse">
            <a:avLst/>
          </a:prstGeom>
          <a:solidFill>
            <a:srgbClr val="25C2D4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7"/>
          <p:cNvSpPr/>
          <p:nvPr/>
        </p:nvSpPr>
        <p:spPr>
          <a:xfrm>
            <a:off x="8275320" y="273384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8"/>
          <p:cNvSpPr/>
          <p:nvPr/>
        </p:nvSpPr>
        <p:spPr>
          <a:xfrm>
            <a:off x="9006840" y="2779920"/>
            <a:ext cx="90720" cy="90720"/>
          </a:xfrm>
          <a:prstGeom prst="ellipse">
            <a:avLst/>
          </a:prstGeom>
          <a:solidFill>
            <a:srgbClr val="FF9D3D"/>
          </a:solidFill>
          <a:ln w="12700">
            <a:solidFill>
              <a:srgbClr val="FF9D3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9"/>
          <p:cNvSpPr/>
          <p:nvPr/>
        </p:nvSpPr>
        <p:spPr>
          <a:xfrm flipV="1">
            <a:off x="9098280" y="273384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0"/>
          <p:cNvSpPr/>
          <p:nvPr/>
        </p:nvSpPr>
        <p:spPr>
          <a:xfrm>
            <a:off x="9829800" y="2688480"/>
            <a:ext cx="90720" cy="90720"/>
          </a:xfrm>
          <a:prstGeom prst="ellipse">
            <a:avLst/>
          </a:prstGeom>
          <a:solidFill>
            <a:srgbClr val="25C2D4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1"/>
          <p:cNvSpPr/>
          <p:nvPr/>
        </p:nvSpPr>
        <p:spPr>
          <a:xfrm>
            <a:off x="9921240" y="2733840"/>
            <a:ext cx="667440" cy="91440"/>
          </a:xfrm>
          <a:prstGeom prst="line">
            <a:avLst/>
          </a:prstGeom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2"/>
          <p:cNvSpPr/>
          <p:nvPr/>
        </p:nvSpPr>
        <p:spPr>
          <a:xfrm>
            <a:off x="10652760" y="2779920"/>
            <a:ext cx="90720" cy="90720"/>
          </a:xfrm>
          <a:prstGeom prst="ellipse">
            <a:avLst/>
          </a:prstGeom>
          <a:solidFill>
            <a:srgbClr val="51D39A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3"/>
          <p:cNvSpPr/>
          <p:nvPr/>
        </p:nvSpPr>
        <p:spPr>
          <a:xfrm>
            <a:off x="621720" y="658440"/>
            <a:ext cx="1690920" cy="291960"/>
          </a:xfrm>
          <a:prstGeom prst="roundRect">
            <a:avLst>
              <a:gd name="adj" fmla="val 25000"/>
            </a:avLst>
          </a:prstGeom>
          <a:solidFill>
            <a:srgbClr val="25C2D4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4"/>
          <p:cNvSpPr/>
          <p:nvPr/>
        </p:nvSpPr>
        <p:spPr>
          <a:xfrm>
            <a:off x="621720" y="722520"/>
            <a:ext cx="16909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34" strike="noStrike">
                <a:solidFill>
                  <a:srgbClr val="07131F"/>
                </a:solidFill>
                <a:effectLst/>
                <a:uFillTx/>
                <a:latin typeface="JetBrainsMono NF"/>
                <a:ea typeface="JetBrainsMono NF"/>
              </a:rPr>
              <a:t>TECH CHALLENGE IV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5"/>
          <p:cNvSpPr/>
          <p:nvPr/>
        </p:nvSpPr>
        <p:spPr>
          <a:xfrm>
            <a:off x="621720" y="1371600"/>
            <a:ext cx="649152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Plataforma de</a:t>
            </a:r>
            <a:endParaRPr lang="pt-BR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Feedback Educacional</a:t>
            </a:r>
            <a:endParaRPr lang="pt-BR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6"/>
          <p:cNvSpPr/>
          <p:nvPr/>
        </p:nvSpPr>
        <p:spPr>
          <a:xfrm>
            <a:off x="640080" y="3035880"/>
            <a:ext cx="5851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DE7EE"/>
                </a:solidFill>
                <a:effectLst/>
                <a:uFillTx/>
                <a:latin typeface="JetBrainsMono NF"/>
                <a:ea typeface="JetBrainsMono NF"/>
              </a:rPr>
              <a:t>Receber, classificar, notificar e consolidar feedbacks.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7"/>
          <p:cNvSpPr/>
          <p:nvPr/>
        </p:nvSpPr>
        <p:spPr>
          <a:xfrm>
            <a:off x="640080" y="5440680"/>
            <a:ext cx="56685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JAVA 21  ·  QUARKUS  ·  AWS  ·  TERRAFORM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8"/>
          <p:cNvSpPr/>
          <p:nvPr/>
        </p:nvSpPr>
        <p:spPr>
          <a:xfrm>
            <a:off x="640080" y="5879520"/>
            <a:ext cx="6199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Integrantes: Hugo Soares - RM370151, Lucas Silva – RM369819, Matheus Santos - RM369171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sldNum" idx="5"/>
          </p:nvPr>
        </p:nvSpPr>
        <p:spPr>
          <a:xfrm>
            <a:off x="11292840" y="6473880"/>
            <a:ext cx="410760" cy="16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26B84A5-F474-4F81-892D-ADEA9B6E2D65}" type="slidenum">
              <a: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&lt;number&gt;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67000" y="329040"/>
            <a:ext cx="4022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39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MODELO DE CLOUD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567000" y="64908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AWS com arquitetura serverless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585360" y="1170360"/>
            <a:ext cx="10834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Funções sob demanda e serviços gerenciados para cada etapa do fluxo.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640080" y="1737360"/>
            <a:ext cx="4571280" cy="4205520"/>
          </a:xfrm>
          <a:prstGeom prst="roundRect">
            <a:avLst>
              <a:gd name="adj" fmla="val 1739"/>
            </a:avLst>
          </a:prstGeom>
          <a:solidFill>
            <a:srgbClr val="102334"/>
          </a:solidFill>
          <a:ln w="12700">
            <a:solidFill>
              <a:srgbClr val="25C2D4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960120" y="2057400"/>
            <a:ext cx="3565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POR QUE SERVERLESS?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932760" y="2606040"/>
            <a:ext cx="3885480" cy="25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marL="190440" indent="-19044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Escala automática conforme a demanda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Cobrança baseada no uso dos serviços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Sem servidores permanentes para operar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Integrações nativas por HTTP, eventos e agenda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Permissões e evolução independentes por função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5669280" y="1755720"/>
            <a:ext cx="2559600" cy="1005120"/>
          </a:xfrm>
          <a:prstGeom prst="roundRect">
            <a:avLst>
              <a:gd name="adj" fmla="val 7273"/>
            </a:avLst>
          </a:prstGeom>
          <a:solidFill>
            <a:srgbClr val="153044"/>
          </a:solidFill>
          <a:ln w="12700">
            <a:solidFill>
              <a:srgbClr val="25C2D4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5879520" y="193860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ENTRADA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5879520" y="2286000"/>
            <a:ext cx="21024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API Gateway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9"/>
          <p:cNvSpPr/>
          <p:nvPr/>
        </p:nvSpPr>
        <p:spPr>
          <a:xfrm>
            <a:off x="8549640" y="1755720"/>
            <a:ext cx="2559600" cy="1005120"/>
          </a:xfrm>
          <a:prstGeom prst="roundRect">
            <a:avLst>
              <a:gd name="adj" fmla="val 7273"/>
            </a:avLst>
          </a:prstGeom>
          <a:solidFill>
            <a:srgbClr val="153044"/>
          </a:solidFill>
          <a:ln w="12700">
            <a:solidFill>
              <a:srgbClr val="25C2D4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8759880" y="193860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COMPUTAÇÃO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8759880" y="2286000"/>
            <a:ext cx="21024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AWS Lambda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5669280" y="3081600"/>
            <a:ext cx="2559600" cy="1005120"/>
          </a:xfrm>
          <a:prstGeom prst="roundRect">
            <a:avLst>
              <a:gd name="adj" fmla="val 7273"/>
            </a:avLst>
          </a:prstGeom>
          <a:solidFill>
            <a:srgbClr val="153044"/>
          </a:solidFill>
          <a:ln w="12700">
            <a:solidFill>
              <a:srgbClr val="FF9D3D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5879520" y="326448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9D3D"/>
                </a:solidFill>
                <a:effectLst/>
                <a:uFillTx/>
                <a:latin typeface="JetBrainsMono NF"/>
                <a:ea typeface="JetBrainsMono NF"/>
              </a:rPr>
              <a:t>DADOS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5879520" y="3611880"/>
            <a:ext cx="21024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DynamoDB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8549640" y="3081600"/>
            <a:ext cx="2559600" cy="1005120"/>
          </a:xfrm>
          <a:prstGeom prst="roundRect">
            <a:avLst>
              <a:gd name="adj" fmla="val 7273"/>
            </a:avLst>
          </a:prstGeom>
          <a:solidFill>
            <a:srgbClr val="153044"/>
          </a:solidFill>
          <a:ln w="12700">
            <a:solidFill>
              <a:srgbClr val="FF9D3D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8759880" y="326448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9D3D"/>
                </a:solidFill>
                <a:effectLst/>
                <a:uFillTx/>
                <a:latin typeface="JetBrainsMono NF"/>
                <a:ea typeface="JetBrainsMono NF"/>
              </a:rPr>
              <a:t>EVENTOS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8759880" y="3611880"/>
            <a:ext cx="21024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SNS + EventBridge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8"/>
          <p:cNvSpPr/>
          <p:nvPr/>
        </p:nvSpPr>
        <p:spPr>
          <a:xfrm>
            <a:off x="5669280" y="4407480"/>
            <a:ext cx="2559600" cy="1005120"/>
          </a:xfrm>
          <a:prstGeom prst="roundRect">
            <a:avLst>
              <a:gd name="adj" fmla="val 7273"/>
            </a:avLst>
          </a:prstGeom>
          <a:solidFill>
            <a:srgbClr val="153044"/>
          </a:solidFill>
          <a:ln w="12700">
            <a:solidFill>
              <a:srgbClr val="FF667A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5879520" y="459036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667A"/>
                </a:solidFill>
                <a:effectLst/>
                <a:uFillTx/>
                <a:latin typeface="JetBrainsMono NF"/>
                <a:ea typeface="JetBrainsMono NF"/>
              </a:rPr>
              <a:t>COMUNICAÇÃO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0"/>
          <p:cNvSpPr/>
          <p:nvPr/>
        </p:nvSpPr>
        <p:spPr>
          <a:xfrm>
            <a:off x="5879520" y="4937760"/>
            <a:ext cx="21024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Amazon SES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1"/>
          <p:cNvSpPr/>
          <p:nvPr/>
        </p:nvSpPr>
        <p:spPr>
          <a:xfrm>
            <a:off x="8549640" y="4407480"/>
            <a:ext cx="2559600" cy="1005120"/>
          </a:xfrm>
          <a:prstGeom prst="roundRect">
            <a:avLst>
              <a:gd name="adj" fmla="val 7273"/>
            </a:avLst>
          </a:prstGeom>
          <a:solidFill>
            <a:srgbClr val="153044"/>
          </a:solidFill>
          <a:ln w="12700">
            <a:solidFill>
              <a:srgbClr val="52D39A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2"/>
          <p:cNvSpPr/>
          <p:nvPr/>
        </p:nvSpPr>
        <p:spPr>
          <a:xfrm>
            <a:off x="8759880" y="459036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52D39A"/>
                </a:solidFill>
                <a:effectLst/>
                <a:uFillTx/>
                <a:latin typeface="JetBrainsMono NF"/>
                <a:ea typeface="JetBrainsMono NF"/>
              </a:rPr>
              <a:t>OPERAÇÃO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3"/>
          <p:cNvSpPr/>
          <p:nvPr/>
        </p:nvSpPr>
        <p:spPr>
          <a:xfrm>
            <a:off x="8759880" y="4937760"/>
            <a:ext cx="21024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CloudWatch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4"/>
          <p:cNvSpPr/>
          <p:nvPr/>
        </p:nvSpPr>
        <p:spPr>
          <a:xfrm>
            <a:off x="5669280" y="5669280"/>
            <a:ext cx="543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DE7EE"/>
                </a:solidFill>
                <a:effectLst/>
                <a:uFillTx/>
                <a:latin typeface="JetBrainsMono NF"/>
                <a:ea typeface="JetBrainsMono NF"/>
              </a:rPr>
              <a:t>Cada serviço executa uma responsabilidade específica e escala de forma independente.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5"/>
          <p:cNvSpPr/>
          <p:nvPr/>
        </p:nvSpPr>
        <p:spPr>
          <a:xfrm>
            <a:off x="585360" y="6473880"/>
            <a:ext cx="99662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Fonte: docs/Especificacao_Tecnica.md — arquitetura AWS detalhada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sldNum" idx="6"/>
          </p:nvPr>
        </p:nvSpPr>
        <p:spPr>
          <a:xfrm>
            <a:off x="11292840" y="6473880"/>
            <a:ext cx="410760" cy="16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98F56D8-231E-42D1-8189-81A8F3898EF7}" type="slidenum">
              <a: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&lt;number&gt;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67000" y="329040"/>
            <a:ext cx="4022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39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COMPONENTES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67000" y="64908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Os blocos que formam a solução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585360" y="1170360"/>
            <a:ext cx="10834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Cada componente possui uma função clara dentro do fluxo serverless.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658440" y="1627560"/>
            <a:ext cx="5257080" cy="959400"/>
          </a:xfrm>
          <a:prstGeom prst="roundRect">
            <a:avLst>
              <a:gd name="adj" fmla="val 7619"/>
            </a:avLst>
          </a:prstGeom>
          <a:solidFill>
            <a:srgbClr val="153044"/>
          </a:solidFill>
          <a:ln w="12700">
            <a:solidFill>
              <a:srgbClr val="25C2D4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822960" y="1810440"/>
            <a:ext cx="255240" cy="255240"/>
          </a:xfrm>
          <a:prstGeom prst="ellipse">
            <a:avLst/>
          </a:prstGeom>
          <a:solidFill>
            <a:srgbClr val="25C2D4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1225440" y="1774080"/>
            <a:ext cx="4507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API Gateway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1225440" y="2112120"/>
            <a:ext cx="4507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expõe a API HTTP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"/>
          <p:cNvSpPr/>
          <p:nvPr/>
        </p:nvSpPr>
        <p:spPr>
          <a:xfrm>
            <a:off x="6327720" y="1627560"/>
            <a:ext cx="5257080" cy="959400"/>
          </a:xfrm>
          <a:prstGeom prst="roundRect">
            <a:avLst>
              <a:gd name="adj" fmla="val 7619"/>
            </a:avLst>
          </a:prstGeom>
          <a:solidFill>
            <a:srgbClr val="153044"/>
          </a:solidFill>
          <a:ln w="12700">
            <a:solidFill>
              <a:srgbClr val="25C2D4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8"/>
          <p:cNvSpPr/>
          <p:nvPr/>
        </p:nvSpPr>
        <p:spPr>
          <a:xfrm>
            <a:off x="6492240" y="1810440"/>
            <a:ext cx="255240" cy="255240"/>
          </a:xfrm>
          <a:prstGeom prst="ellipse">
            <a:avLst/>
          </a:prstGeom>
          <a:solidFill>
            <a:srgbClr val="25C2D4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6894720" y="1774080"/>
            <a:ext cx="4507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feedback-api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0"/>
          <p:cNvSpPr/>
          <p:nvPr/>
        </p:nvSpPr>
        <p:spPr>
          <a:xfrm>
            <a:off x="6894720" y="2112120"/>
            <a:ext cx="4507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valida e classifica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1"/>
          <p:cNvSpPr/>
          <p:nvPr/>
        </p:nvSpPr>
        <p:spPr>
          <a:xfrm>
            <a:off x="658440" y="2560320"/>
            <a:ext cx="5257080" cy="959400"/>
          </a:xfrm>
          <a:prstGeom prst="roundRect">
            <a:avLst>
              <a:gd name="adj" fmla="val 7619"/>
            </a:avLst>
          </a:prstGeom>
          <a:solidFill>
            <a:srgbClr val="153044"/>
          </a:solidFill>
          <a:ln w="12700">
            <a:solidFill>
              <a:srgbClr val="FF9D3D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2"/>
          <p:cNvSpPr/>
          <p:nvPr/>
        </p:nvSpPr>
        <p:spPr>
          <a:xfrm>
            <a:off x="822960" y="2743200"/>
            <a:ext cx="255240" cy="255240"/>
          </a:xfrm>
          <a:prstGeom prst="ellipse">
            <a:avLst/>
          </a:prstGeom>
          <a:solidFill>
            <a:srgbClr val="FF9D3D"/>
          </a:solidFill>
          <a:ln w="12700">
            <a:solidFill>
              <a:srgbClr val="FF9D3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3"/>
          <p:cNvSpPr/>
          <p:nvPr/>
        </p:nvSpPr>
        <p:spPr>
          <a:xfrm>
            <a:off x="1225440" y="2706480"/>
            <a:ext cx="4507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DynamoDB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1225440" y="3044880"/>
            <a:ext cx="4507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persiste os feedbacks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5"/>
          <p:cNvSpPr/>
          <p:nvPr/>
        </p:nvSpPr>
        <p:spPr>
          <a:xfrm>
            <a:off x="6327720" y="2560320"/>
            <a:ext cx="5257080" cy="959400"/>
          </a:xfrm>
          <a:prstGeom prst="roundRect">
            <a:avLst>
              <a:gd name="adj" fmla="val 7619"/>
            </a:avLst>
          </a:prstGeom>
          <a:solidFill>
            <a:srgbClr val="153044"/>
          </a:solidFill>
          <a:ln w="12700">
            <a:solidFill>
              <a:srgbClr val="FF9D3D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6"/>
          <p:cNvSpPr/>
          <p:nvPr/>
        </p:nvSpPr>
        <p:spPr>
          <a:xfrm>
            <a:off x="6492240" y="2743200"/>
            <a:ext cx="255240" cy="255240"/>
          </a:xfrm>
          <a:prstGeom prst="ellipse">
            <a:avLst/>
          </a:prstGeom>
          <a:solidFill>
            <a:srgbClr val="FF9D3D"/>
          </a:solidFill>
          <a:ln w="12700">
            <a:solidFill>
              <a:srgbClr val="FF9D3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6894720" y="2706480"/>
            <a:ext cx="4507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SNS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8"/>
          <p:cNvSpPr/>
          <p:nvPr/>
        </p:nvSpPr>
        <p:spPr>
          <a:xfrm>
            <a:off x="6894720" y="3044880"/>
            <a:ext cx="4507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distribui eventos críticos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9"/>
          <p:cNvSpPr/>
          <p:nvPr/>
        </p:nvSpPr>
        <p:spPr>
          <a:xfrm>
            <a:off x="658440" y="3493080"/>
            <a:ext cx="5257080" cy="959400"/>
          </a:xfrm>
          <a:prstGeom prst="roundRect">
            <a:avLst>
              <a:gd name="adj" fmla="val 7619"/>
            </a:avLst>
          </a:prstGeom>
          <a:solidFill>
            <a:srgbClr val="153044"/>
          </a:solidFill>
          <a:ln w="12700">
            <a:solidFill>
              <a:srgbClr val="FF667A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0"/>
          <p:cNvSpPr/>
          <p:nvPr/>
        </p:nvSpPr>
        <p:spPr>
          <a:xfrm>
            <a:off x="822960" y="3675960"/>
            <a:ext cx="255240" cy="255240"/>
          </a:xfrm>
          <a:prstGeom prst="ellipse">
            <a:avLst/>
          </a:prstGeom>
          <a:solidFill>
            <a:srgbClr val="FF667A"/>
          </a:solidFill>
          <a:ln w="12700">
            <a:solidFill>
              <a:srgbClr val="FF667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1"/>
          <p:cNvSpPr/>
          <p:nvPr/>
        </p:nvSpPr>
        <p:spPr>
          <a:xfrm>
            <a:off x="1225440" y="3639240"/>
            <a:ext cx="4507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critical-notifier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2"/>
          <p:cNvSpPr/>
          <p:nvPr/>
        </p:nvSpPr>
        <p:spPr>
          <a:xfrm>
            <a:off x="1225440" y="3977640"/>
            <a:ext cx="4507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processa notificações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3"/>
          <p:cNvSpPr/>
          <p:nvPr/>
        </p:nvSpPr>
        <p:spPr>
          <a:xfrm>
            <a:off x="6327720" y="3493080"/>
            <a:ext cx="5257080" cy="959400"/>
          </a:xfrm>
          <a:prstGeom prst="roundRect">
            <a:avLst>
              <a:gd name="adj" fmla="val 7619"/>
            </a:avLst>
          </a:prstGeom>
          <a:solidFill>
            <a:srgbClr val="153044"/>
          </a:solidFill>
          <a:ln w="12700">
            <a:solidFill>
              <a:srgbClr val="FF667A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4"/>
          <p:cNvSpPr/>
          <p:nvPr/>
        </p:nvSpPr>
        <p:spPr>
          <a:xfrm>
            <a:off x="6492240" y="3675960"/>
            <a:ext cx="255240" cy="255240"/>
          </a:xfrm>
          <a:prstGeom prst="ellipse">
            <a:avLst/>
          </a:prstGeom>
          <a:solidFill>
            <a:srgbClr val="FF667A"/>
          </a:solidFill>
          <a:ln w="12700">
            <a:solidFill>
              <a:srgbClr val="FF667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5"/>
          <p:cNvSpPr/>
          <p:nvPr/>
        </p:nvSpPr>
        <p:spPr>
          <a:xfrm>
            <a:off x="6894720" y="3639240"/>
            <a:ext cx="4507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Amazon SES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6"/>
          <p:cNvSpPr/>
          <p:nvPr/>
        </p:nvSpPr>
        <p:spPr>
          <a:xfrm>
            <a:off x="6894720" y="3977640"/>
            <a:ext cx="4507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envia os e-mails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7"/>
          <p:cNvSpPr/>
          <p:nvPr/>
        </p:nvSpPr>
        <p:spPr>
          <a:xfrm>
            <a:off x="658440" y="4425840"/>
            <a:ext cx="5257080" cy="959400"/>
          </a:xfrm>
          <a:prstGeom prst="roundRect">
            <a:avLst>
              <a:gd name="adj" fmla="val 7619"/>
            </a:avLst>
          </a:prstGeom>
          <a:solidFill>
            <a:srgbClr val="153044"/>
          </a:solidFill>
          <a:ln w="12700">
            <a:solidFill>
              <a:srgbClr val="FF9D3D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8"/>
          <p:cNvSpPr/>
          <p:nvPr/>
        </p:nvSpPr>
        <p:spPr>
          <a:xfrm>
            <a:off x="822960" y="4608720"/>
            <a:ext cx="255240" cy="255240"/>
          </a:xfrm>
          <a:prstGeom prst="ellipse">
            <a:avLst/>
          </a:prstGeom>
          <a:solidFill>
            <a:srgbClr val="FF9D3D"/>
          </a:solidFill>
          <a:ln w="12700">
            <a:solidFill>
              <a:srgbClr val="FF9D3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9"/>
          <p:cNvSpPr/>
          <p:nvPr/>
        </p:nvSpPr>
        <p:spPr>
          <a:xfrm>
            <a:off x="1225440" y="4572000"/>
            <a:ext cx="4507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EventBridge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0"/>
          <p:cNvSpPr/>
          <p:nvPr/>
        </p:nvSpPr>
        <p:spPr>
          <a:xfrm>
            <a:off x="1225440" y="4910400"/>
            <a:ext cx="4507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agenda a execução semanal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1"/>
          <p:cNvSpPr/>
          <p:nvPr/>
        </p:nvSpPr>
        <p:spPr>
          <a:xfrm>
            <a:off x="6327720" y="4425840"/>
            <a:ext cx="5257080" cy="959400"/>
          </a:xfrm>
          <a:prstGeom prst="roundRect">
            <a:avLst>
              <a:gd name="adj" fmla="val 7619"/>
            </a:avLst>
          </a:prstGeom>
          <a:solidFill>
            <a:srgbClr val="153044"/>
          </a:solidFill>
          <a:ln w="12700">
            <a:solidFill>
              <a:srgbClr val="FF9D3D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2"/>
          <p:cNvSpPr/>
          <p:nvPr/>
        </p:nvSpPr>
        <p:spPr>
          <a:xfrm>
            <a:off x="6492240" y="4608720"/>
            <a:ext cx="255240" cy="255240"/>
          </a:xfrm>
          <a:prstGeom prst="ellipse">
            <a:avLst/>
          </a:prstGeom>
          <a:solidFill>
            <a:srgbClr val="FF9D3D"/>
          </a:solidFill>
          <a:ln w="12700">
            <a:solidFill>
              <a:srgbClr val="FF9D3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3"/>
          <p:cNvSpPr/>
          <p:nvPr/>
        </p:nvSpPr>
        <p:spPr>
          <a:xfrm>
            <a:off x="6894720" y="4572000"/>
            <a:ext cx="4507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weekly-report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4"/>
          <p:cNvSpPr/>
          <p:nvPr/>
        </p:nvSpPr>
        <p:spPr>
          <a:xfrm>
            <a:off x="6894720" y="4910400"/>
            <a:ext cx="4507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consolida os indicadores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5"/>
          <p:cNvSpPr/>
          <p:nvPr/>
        </p:nvSpPr>
        <p:spPr>
          <a:xfrm>
            <a:off x="658440" y="5358240"/>
            <a:ext cx="5257080" cy="959400"/>
          </a:xfrm>
          <a:prstGeom prst="roundRect">
            <a:avLst>
              <a:gd name="adj" fmla="val 7619"/>
            </a:avLst>
          </a:prstGeom>
          <a:solidFill>
            <a:srgbClr val="153044"/>
          </a:solidFill>
          <a:ln w="12700">
            <a:solidFill>
              <a:srgbClr val="52D39A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6"/>
          <p:cNvSpPr/>
          <p:nvPr/>
        </p:nvSpPr>
        <p:spPr>
          <a:xfrm>
            <a:off x="822960" y="5541120"/>
            <a:ext cx="255240" cy="255240"/>
          </a:xfrm>
          <a:prstGeom prst="ellipse">
            <a:avLst/>
          </a:prstGeom>
          <a:solidFill>
            <a:srgbClr val="52D39A"/>
          </a:solidFill>
          <a:ln w="12700">
            <a:solidFill>
              <a:srgbClr val="52D39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7"/>
          <p:cNvSpPr/>
          <p:nvPr/>
        </p:nvSpPr>
        <p:spPr>
          <a:xfrm>
            <a:off x="1225440" y="5504760"/>
            <a:ext cx="4507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CloudWatch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8"/>
          <p:cNvSpPr/>
          <p:nvPr/>
        </p:nvSpPr>
        <p:spPr>
          <a:xfrm>
            <a:off x="1225440" y="5843160"/>
            <a:ext cx="4507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logs, métricas e alarmes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9"/>
          <p:cNvSpPr/>
          <p:nvPr/>
        </p:nvSpPr>
        <p:spPr>
          <a:xfrm>
            <a:off x="6327720" y="5358240"/>
            <a:ext cx="5257080" cy="959400"/>
          </a:xfrm>
          <a:prstGeom prst="roundRect">
            <a:avLst>
              <a:gd name="adj" fmla="val 7619"/>
            </a:avLst>
          </a:prstGeom>
          <a:solidFill>
            <a:srgbClr val="153044"/>
          </a:solidFill>
          <a:ln w="12700">
            <a:solidFill>
              <a:srgbClr val="52D39A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40"/>
          <p:cNvSpPr/>
          <p:nvPr/>
        </p:nvSpPr>
        <p:spPr>
          <a:xfrm>
            <a:off x="6492240" y="5541120"/>
            <a:ext cx="255240" cy="255240"/>
          </a:xfrm>
          <a:prstGeom prst="ellipse">
            <a:avLst/>
          </a:prstGeom>
          <a:solidFill>
            <a:srgbClr val="52D39A"/>
          </a:solidFill>
          <a:ln w="12700">
            <a:solidFill>
              <a:srgbClr val="52D39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1"/>
          <p:cNvSpPr/>
          <p:nvPr/>
        </p:nvSpPr>
        <p:spPr>
          <a:xfrm>
            <a:off x="6894720" y="5504760"/>
            <a:ext cx="4507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IAM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2"/>
          <p:cNvSpPr/>
          <p:nvPr/>
        </p:nvSpPr>
        <p:spPr>
          <a:xfrm>
            <a:off x="6894720" y="5843160"/>
            <a:ext cx="4507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controla as permissões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3"/>
          <p:cNvSpPr/>
          <p:nvPr/>
        </p:nvSpPr>
        <p:spPr>
          <a:xfrm>
            <a:off x="585360" y="6473880"/>
            <a:ext cx="99662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Fonte: docs/Especificacao_Tecnica.md — visão geral dos componentes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sldNum" idx="7"/>
          </p:nvPr>
        </p:nvSpPr>
        <p:spPr>
          <a:xfrm>
            <a:off x="11292840" y="6473880"/>
            <a:ext cx="410760" cy="16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FE5AD1-0972-450C-9825-75056AC242A2}" type="slidenum">
              <a: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&lt;number&gt;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567000" y="329040"/>
            <a:ext cx="4022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39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ARQUITETURA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567000" y="64908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Três caminhos, uma plataforma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585360" y="1170360"/>
            <a:ext cx="10834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Entrada HTTP, notificação assíncrona e consolidação periódica.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475560" y="1572840"/>
            <a:ext cx="11228040" cy="4525560"/>
          </a:xfrm>
          <a:prstGeom prst="roundRect">
            <a:avLst>
              <a:gd name="adj" fmla="val 1616"/>
            </a:avLst>
          </a:prstGeom>
          <a:solidFill>
            <a:srgbClr val="07131F"/>
          </a:solidFill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docs/diagrams/rendered/architecture.png"/>
          <p:cNvPicPr/>
          <p:nvPr/>
        </p:nvPicPr>
        <p:blipFill>
          <a:blip r:embed="rId1"/>
          <a:stretch/>
        </p:blipFill>
        <p:spPr>
          <a:xfrm>
            <a:off x="621720" y="2516760"/>
            <a:ext cx="10926360" cy="255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Shape 4"/>
          <p:cNvSpPr/>
          <p:nvPr/>
        </p:nvSpPr>
        <p:spPr>
          <a:xfrm>
            <a:off x="749880" y="5806440"/>
            <a:ext cx="685080" cy="291960"/>
          </a:xfrm>
          <a:prstGeom prst="roundRect">
            <a:avLst>
              <a:gd name="adj" fmla="val 25000"/>
            </a:avLst>
          </a:prstGeom>
          <a:solidFill>
            <a:srgbClr val="25C2D4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49880" y="5870520"/>
            <a:ext cx="685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34" strike="noStrike">
                <a:solidFill>
                  <a:srgbClr val="07131F"/>
                </a:solidFill>
                <a:effectLst/>
                <a:uFillTx/>
                <a:latin typeface="JetBrainsMono NF"/>
                <a:ea typeface="JetBrainsMono NF"/>
              </a:rPr>
              <a:t>HTTP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1600200" y="5806440"/>
            <a:ext cx="959400" cy="291960"/>
          </a:xfrm>
          <a:prstGeom prst="roundRect">
            <a:avLst>
              <a:gd name="adj" fmla="val 25000"/>
            </a:avLst>
          </a:prstGeom>
          <a:solidFill>
            <a:srgbClr val="FF9D3D"/>
          </a:solidFill>
          <a:ln w="12700">
            <a:solidFill>
              <a:srgbClr val="FF9D3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1600200" y="5870520"/>
            <a:ext cx="95940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34" strike="noStrike">
                <a:solidFill>
                  <a:srgbClr val="07131F"/>
                </a:solidFill>
                <a:effectLst/>
                <a:uFillTx/>
                <a:latin typeface="JetBrainsMono NF"/>
                <a:ea typeface="JetBrainsMono NF"/>
              </a:rPr>
              <a:t>EVENTOS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8"/>
          <p:cNvSpPr/>
          <p:nvPr/>
        </p:nvSpPr>
        <p:spPr>
          <a:xfrm>
            <a:off x="2724840" y="5806440"/>
            <a:ext cx="1325160" cy="291960"/>
          </a:xfrm>
          <a:prstGeom prst="roundRect">
            <a:avLst>
              <a:gd name="adj" fmla="val 25000"/>
            </a:avLst>
          </a:prstGeom>
          <a:solidFill>
            <a:srgbClr val="F3C969"/>
          </a:solidFill>
          <a:ln w="12700">
            <a:solidFill>
              <a:srgbClr val="F3C96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2724840" y="5870520"/>
            <a:ext cx="13251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34" strike="noStrike">
                <a:solidFill>
                  <a:srgbClr val="07131F"/>
                </a:solidFill>
                <a:effectLst/>
                <a:uFillTx/>
                <a:latin typeface="JetBrainsMono NF"/>
                <a:ea typeface="JetBrainsMono NF"/>
              </a:rPr>
              <a:t>AGENDAMENTO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0"/>
          <p:cNvSpPr/>
          <p:nvPr/>
        </p:nvSpPr>
        <p:spPr>
          <a:xfrm>
            <a:off x="4224600" y="5806440"/>
            <a:ext cx="1599480" cy="291960"/>
          </a:xfrm>
          <a:prstGeom prst="roundRect">
            <a:avLst>
              <a:gd name="adj" fmla="val 25000"/>
            </a:avLst>
          </a:prstGeom>
          <a:solidFill>
            <a:srgbClr val="52D39A"/>
          </a:solidFill>
          <a:ln w="12700">
            <a:solidFill>
              <a:srgbClr val="52D39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4224600" y="5870520"/>
            <a:ext cx="15994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34" strike="noStrike">
                <a:solidFill>
                  <a:srgbClr val="07131F"/>
                </a:solidFill>
                <a:effectLst/>
                <a:uFillTx/>
                <a:latin typeface="JetBrainsMono NF"/>
                <a:ea typeface="JetBrainsMono NF"/>
              </a:rPr>
              <a:t>OBSERVABILIDADE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2"/>
          <p:cNvSpPr/>
          <p:nvPr/>
        </p:nvSpPr>
        <p:spPr>
          <a:xfrm>
            <a:off x="585360" y="6473880"/>
            <a:ext cx="99662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Diagrama Mermaid: docs/diagrams/architecture.mmd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sldNum" idx="8"/>
          </p:nvPr>
        </p:nvSpPr>
        <p:spPr>
          <a:xfrm>
            <a:off x="11292840" y="6473880"/>
            <a:ext cx="410760" cy="16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73FF7E-7301-4BB6-95D4-12F870057A09}" type="slidenum">
              <a: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&lt;number&gt;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567000" y="329040"/>
            <a:ext cx="4022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39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RESPONSABILIDADE ÚNICA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567000" y="64908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Cada Lambda tem um gatilho e um resultado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585360" y="1170360"/>
            <a:ext cx="10834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A separação permite escalar, monitorar e evoluir cada fluxo de forma independente.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621720" y="1737360"/>
            <a:ext cx="3400920" cy="4251240"/>
          </a:xfrm>
          <a:prstGeom prst="roundRect">
            <a:avLst>
              <a:gd name="adj" fmla="val 2151"/>
            </a:avLst>
          </a:prstGeom>
          <a:solidFill>
            <a:srgbClr val="102334"/>
          </a:solidFill>
          <a:ln w="12700">
            <a:solidFill>
              <a:srgbClr val="25C2D4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877680" y="2011680"/>
            <a:ext cx="1352520" cy="291960"/>
          </a:xfrm>
          <a:prstGeom prst="roundRect">
            <a:avLst>
              <a:gd name="adj" fmla="val 25000"/>
            </a:avLst>
          </a:prstGeom>
          <a:solidFill>
            <a:srgbClr val="25C2D4"/>
          </a:solidFill>
          <a:ln w="12700">
            <a:solidFill>
              <a:srgbClr val="25C2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877680" y="2075760"/>
            <a:ext cx="1352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34" strike="noStrike">
                <a:solidFill>
                  <a:srgbClr val="07131F"/>
                </a:solidFill>
                <a:effectLst/>
                <a:uFillTx/>
                <a:latin typeface="JetBrainsMono NF"/>
                <a:ea typeface="JetBrainsMono NF"/>
              </a:rPr>
              <a:t>API GATEWAY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877680" y="2633400"/>
            <a:ext cx="2815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feedback-api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877680" y="3154680"/>
            <a:ext cx="274248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marL="160200" indent="-1602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Valida descrição e nota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Classifica a urgência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Persiste no DynamoDB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Publica evento crítico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877680" y="5157360"/>
            <a:ext cx="1096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RESULTADO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877680" y="5468040"/>
            <a:ext cx="2788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FEEDBACK CRIADO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0"/>
          <p:cNvSpPr/>
          <p:nvPr/>
        </p:nvSpPr>
        <p:spPr>
          <a:xfrm>
            <a:off x="4443840" y="1737360"/>
            <a:ext cx="3400920" cy="4251240"/>
          </a:xfrm>
          <a:prstGeom prst="roundRect">
            <a:avLst>
              <a:gd name="adj" fmla="val 2151"/>
            </a:avLst>
          </a:prstGeom>
          <a:solidFill>
            <a:srgbClr val="102334"/>
          </a:solidFill>
          <a:ln w="12700">
            <a:solidFill>
              <a:srgbClr val="FF667A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4700160" y="2011680"/>
            <a:ext cx="1352520" cy="291960"/>
          </a:xfrm>
          <a:prstGeom prst="roundRect">
            <a:avLst>
              <a:gd name="adj" fmla="val 25000"/>
            </a:avLst>
          </a:prstGeom>
          <a:solidFill>
            <a:srgbClr val="FF667A"/>
          </a:solidFill>
          <a:ln w="12700">
            <a:solidFill>
              <a:srgbClr val="FF667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2"/>
          <p:cNvSpPr/>
          <p:nvPr/>
        </p:nvSpPr>
        <p:spPr>
          <a:xfrm>
            <a:off x="4700160" y="2075760"/>
            <a:ext cx="1352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34" strike="noStrike">
                <a:solidFill>
                  <a:srgbClr val="07131F"/>
                </a:solidFill>
                <a:effectLst/>
                <a:uFillTx/>
                <a:latin typeface="JetBrainsMono NF"/>
                <a:ea typeface="JetBrainsMono NF"/>
              </a:rPr>
              <a:t>SNS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4700160" y="2633400"/>
            <a:ext cx="2815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critical-notifier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4700160" y="3154680"/>
            <a:ext cx="274248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marL="160200" indent="-1602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Consome o evento crítico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Monta a mensagem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Aciona o Amazon SES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Notifica o administrador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5"/>
          <p:cNvSpPr/>
          <p:nvPr/>
        </p:nvSpPr>
        <p:spPr>
          <a:xfrm>
            <a:off x="4700160" y="5157360"/>
            <a:ext cx="1096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RESULTADO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4700160" y="5468040"/>
            <a:ext cx="2788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667A"/>
                </a:solidFill>
                <a:effectLst/>
                <a:uFillTx/>
                <a:latin typeface="JetBrainsMono NF"/>
                <a:ea typeface="JetBrainsMono NF"/>
              </a:rPr>
              <a:t>ALERTA ENVIADO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7"/>
          <p:cNvSpPr/>
          <p:nvPr/>
        </p:nvSpPr>
        <p:spPr>
          <a:xfrm>
            <a:off x="8266320" y="1737360"/>
            <a:ext cx="3400920" cy="4251240"/>
          </a:xfrm>
          <a:prstGeom prst="roundRect">
            <a:avLst>
              <a:gd name="adj" fmla="val 2151"/>
            </a:avLst>
          </a:prstGeom>
          <a:solidFill>
            <a:srgbClr val="102334"/>
          </a:solidFill>
          <a:ln w="12700">
            <a:solidFill>
              <a:srgbClr val="FF9D3D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8"/>
          <p:cNvSpPr/>
          <p:nvPr/>
        </p:nvSpPr>
        <p:spPr>
          <a:xfrm>
            <a:off x="8522280" y="2011680"/>
            <a:ext cx="1352520" cy="291960"/>
          </a:xfrm>
          <a:prstGeom prst="roundRect">
            <a:avLst>
              <a:gd name="adj" fmla="val 25000"/>
            </a:avLst>
          </a:prstGeom>
          <a:solidFill>
            <a:srgbClr val="FF9D3D"/>
          </a:solidFill>
          <a:ln w="12700">
            <a:solidFill>
              <a:srgbClr val="FF9D3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9"/>
          <p:cNvSpPr/>
          <p:nvPr/>
        </p:nvSpPr>
        <p:spPr>
          <a:xfrm>
            <a:off x="8522280" y="2075760"/>
            <a:ext cx="135252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34" strike="noStrike">
                <a:solidFill>
                  <a:srgbClr val="07131F"/>
                </a:solidFill>
                <a:effectLst/>
                <a:uFillTx/>
                <a:latin typeface="JetBrainsMono NF"/>
                <a:ea typeface="JetBrainsMono NF"/>
              </a:rPr>
              <a:t>EVENTBRIDGE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0"/>
          <p:cNvSpPr/>
          <p:nvPr/>
        </p:nvSpPr>
        <p:spPr>
          <a:xfrm>
            <a:off x="8522280" y="2633400"/>
            <a:ext cx="2815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weekly-report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1"/>
          <p:cNvSpPr/>
          <p:nvPr/>
        </p:nvSpPr>
        <p:spPr>
          <a:xfrm>
            <a:off x="8522280" y="3154680"/>
            <a:ext cx="274248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marL="160200" indent="-1602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Consulta a semana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Calcula os indicadores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Monta o consolidado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200" indent="-1602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Envia pelo Amazon SES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2"/>
          <p:cNvSpPr/>
          <p:nvPr/>
        </p:nvSpPr>
        <p:spPr>
          <a:xfrm>
            <a:off x="8522280" y="5157360"/>
            <a:ext cx="1096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RESULTADO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3"/>
          <p:cNvSpPr/>
          <p:nvPr/>
        </p:nvSpPr>
        <p:spPr>
          <a:xfrm>
            <a:off x="8522280" y="5468040"/>
            <a:ext cx="2788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9D3D"/>
                </a:solidFill>
                <a:effectLst/>
                <a:uFillTx/>
                <a:latin typeface="JetBrainsMono NF"/>
                <a:ea typeface="JetBrainsMono NF"/>
              </a:rPr>
              <a:t>RELATÓRIO ENVIADO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4"/>
          <p:cNvSpPr/>
          <p:nvPr/>
        </p:nvSpPr>
        <p:spPr>
          <a:xfrm>
            <a:off x="585360" y="6473880"/>
            <a:ext cx="99662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Fonte: docs/Especificacao_Tecnica.md — responsabilidades das Lambdas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sldNum" idx="9"/>
          </p:nvPr>
        </p:nvSpPr>
        <p:spPr>
          <a:xfrm>
            <a:off x="11292840" y="6473880"/>
            <a:ext cx="410760" cy="16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4840C3-6884-4869-BB98-F7D496211ECF}" type="slidenum">
              <a: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&lt;number&gt;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567000" y="329040"/>
            <a:ext cx="4022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39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FUNCIONAMENTO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567000" y="64908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Registro e classificação do feedback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585360" y="1170360"/>
            <a:ext cx="10834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A API valida o contrato, deriva a urgência e devolve uma resposta rastreável.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502920" y="1600200"/>
            <a:ext cx="7543080" cy="4498200"/>
          </a:xfrm>
          <a:prstGeom prst="roundRect">
            <a:avLst>
              <a:gd name="adj" fmla="val 1626"/>
            </a:avLst>
          </a:prstGeom>
          <a:solidFill>
            <a:srgbClr val="07131F"/>
          </a:solidFill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 0" descr="docs/diagrams/rendered/feedback-registration.png"/>
          <p:cNvPicPr/>
          <p:nvPr/>
        </p:nvPicPr>
        <p:blipFill>
          <a:blip r:embed="rId1"/>
          <a:stretch/>
        </p:blipFill>
        <p:spPr>
          <a:xfrm>
            <a:off x="658440" y="1964160"/>
            <a:ext cx="7223040" cy="37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Shape 4"/>
          <p:cNvSpPr/>
          <p:nvPr/>
        </p:nvSpPr>
        <p:spPr>
          <a:xfrm>
            <a:off x="8321040" y="1600200"/>
            <a:ext cx="3309480" cy="1965240"/>
          </a:xfrm>
          <a:prstGeom prst="roundRect">
            <a:avLst>
              <a:gd name="adj" fmla="val 3721"/>
            </a:avLst>
          </a:prstGeom>
          <a:solidFill>
            <a:srgbClr val="102334"/>
          </a:solidFill>
          <a:ln w="12700">
            <a:solidFill>
              <a:srgbClr val="25C2D4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8595360" y="1874520"/>
            <a:ext cx="2559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POST /avaliacao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8595360" y="2350080"/>
            <a:ext cx="25596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  "descricao": "A aula estava confusa...",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  "nota": 2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8321040" y="3840480"/>
            <a:ext cx="3309480" cy="2257920"/>
          </a:xfrm>
          <a:prstGeom prst="roundRect">
            <a:avLst>
              <a:gd name="adj" fmla="val 3239"/>
            </a:avLst>
          </a:prstGeom>
          <a:solidFill>
            <a:srgbClr val="102334"/>
          </a:solidFill>
          <a:ln w="12700">
            <a:solidFill>
              <a:srgbClr val="FF9D3D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8613720" y="4160520"/>
            <a:ext cx="657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667A"/>
                </a:solidFill>
                <a:effectLst/>
                <a:uFillTx/>
                <a:latin typeface="JetBrainsMono NF"/>
                <a:ea typeface="JetBrainsMono NF"/>
              </a:rPr>
              <a:t>0–3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9528120" y="4160520"/>
            <a:ext cx="1553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CRÍTICA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0"/>
          <p:cNvSpPr/>
          <p:nvPr/>
        </p:nvSpPr>
        <p:spPr>
          <a:xfrm>
            <a:off x="8613720" y="4681800"/>
            <a:ext cx="657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3C969"/>
                </a:solidFill>
                <a:effectLst/>
                <a:uFillTx/>
                <a:latin typeface="JetBrainsMono NF"/>
                <a:ea typeface="JetBrainsMono NF"/>
              </a:rPr>
              <a:t>4–6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1"/>
          <p:cNvSpPr/>
          <p:nvPr/>
        </p:nvSpPr>
        <p:spPr>
          <a:xfrm>
            <a:off x="9528120" y="4681800"/>
            <a:ext cx="1553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MÉDIA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2"/>
          <p:cNvSpPr/>
          <p:nvPr/>
        </p:nvSpPr>
        <p:spPr>
          <a:xfrm>
            <a:off x="8613720" y="5203080"/>
            <a:ext cx="657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2D39A"/>
                </a:solidFill>
                <a:effectLst/>
                <a:uFillTx/>
                <a:latin typeface="JetBrainsMono NF"/>
                <a:ea typeface="JetBrainsMono NF"/>
              </a:rPr>
              <a:t>7–10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3"/>
          <p:cNvSpPr/>
          <p:nvPr/>
        </p:nvSpPr>
        <p:spPr>
          <a:xfrm>
            <a:off x="9528120" y="5203080"/>
            <a:ext cx="1553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BAIXA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4"/>
          <p:cNvSpPr/>
          <p:nvPr/>
        </p:nvSpPr>
        <p:spPr>
          <a:xfrm>
            <a:off x="8595360" y="5696640"/>
            <a:ext cx="25596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9DE7EE"/>
                </a:solidFill>
                <a:effectLst/>
                <a:uFillTx/>
                <a:latin typeface="JetBrainsMono NF"/>
                <a:ea typeface="JetBrainsMono NF"/>
              </a:rPr>
              <a:t>201 CREATED  ·  UUID  ·  dataEnvio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5"/>
          <p:cNvSpPr/>
          <p:nvPr/>
        </p:nvSpPr>
        <p:spPr>
          <a:xfrm>
            <a:off x="585360" y="6473880"/>
            <a:ext cx="99662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Diagrama Mermaid: docs/diagrams/feedback-registration.mmd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sldNum" idx="10"/>
          </p:nvPr>
        </p:nvSpPr>
        <p:spPr>
          <a:xfrm>
            <a:off x="11292840" y="6473880"/>
            <a:ext cx="410760" cy="16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F59B27-2FA9-4C88-8A07-67100B8E1246}" type="slidenum">
              <a: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&lt;number&gt;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/>
          <p:nvPr/>
        </p:nvSpPr>
        <p:spPr>
          <a:xfrm>
            <a:off x="567000" y="329040"/>
            <a:ext cx="4022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39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FUNCIONAMENTO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567000" y="64908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Notificação crítica assíncrona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585360" y="1170360"/>
            <a:ext cx="10834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O envio de e-mail ocorre fora da latência da requisição HTTP.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548640" y="1627560"/>
            <a:ext cx="11081880" cy="3519720"/>
          </a:xfrm>
          <a:prstGeom prst="roundRect">
            <a:avLst>
              <a:gd name="adj" fmla="val 2078"/>
            </a:avLst>
          </a:prstGeom>
          <a:solidFill>
            <a:srgbClr val="07131F"/>
          </a:solidFill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0" descr="docs/diagrams/rendered/critical-notification.png"/>
          <p:cNvPicPr/>
          <p:nvPr/>
        </p:nvPicPr>
        <p:blipFill>
          <a:blip r:embed="rId1"/>
          <a:stretch/>
        </p:blipFill>
        <p:spPr>
          <a:xfrm>
            <a:off x="1826280" y="1783080"/>
            <a:ext cx="8526240" cy="319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Shape 4"/>
          <p:cNvSpPr/>
          <p:nvPr/>
        </p:nvSpPr>
        <p:spPr>
          <a:xfrm>
            <a:off x="685800" y="5413320"/>
            <a:ext cx="3428280" cy="712440"/>
          </a:xfrm>
          <a:prstGeom prst="roundRect">
            <a:avLst>
              <a:gd name="adj" fmla="val 10256"/>
            </a:avLst>
          </a:prstGeom>
          <a:solidFill>
            <a:srgbClr val="153044"/>
          </a:solidFill>
          <a:ln w="12700">
            <a:solidFill>
              <a:srgbClr val="25C2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896040" y="5577840"/>
            <a:ext cx="14166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DESCRIÇÃO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2240280" y="5577840"/>
            <a:ext cx="1553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contexto do feedback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7"/>
          <p:cNvSpPr/>
          <p:nvPr/>
        </p:nvSpPr>
        <p:spPr>
          <a:xfrm>
            <a:off x="4507920" y="5413320"/>
            <a:ext cx="3428280" cy="712440"/>
          </a:xfrm>
          <a:prstGeom prst="roundRect">
            <a:avLst>
              <a:gd name="adj" fmla="val 10256"/>
            </a:avLst>
          </a:prstGeom>
          <a:solidFill>
            <a:srgbClr val="153044"/>
          </a:solidFill>
          <a:ln w="12700">
            <a:solidFill>
              <a:srgbClr val="FF66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4718160" y="5577840"/>
            <a:ext cx="14166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667A"/>
                </a:solidFill>
                <a:effectLst/>
                <a:uFillTx/>
                <a:latin typeface="JetBrainsMono NF"/>
                <a:ea typeface="JetBrainsMono NF"/>
              </a:rPr>
              <a:t>URGÊNCIA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6062400" y="5577840"/>
            <a:ext cx="1553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classificação CRÍTICA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0"/>
          <p:cNvSpPr/>
          <p:nvPr/>
        </p:nvSpPr>
        <p:spPr>
          <a:xfrm>
            <a:off x="8330040" y="5413320"/>
            <a:ext cx="3428280" cy="712440"/>
          </a:xfrm>
          <a:prstGeom prst="roundRect">
            <a:avLst>
              <a:gd name="adj" fmla="val 10256"/>
            </a:avLst>
          </a:prstGeom>
          <a:solidFill>
            <a:srgbClr val="153044"/>
          </a:solidFill>
          <a:ln w="12700">
            <a:solidFill>
              <a:srgbClr val="FF9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8540640" y="5577840"/>
            <a:ext cx="14166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9D3D"/>
                </a:solidFill>
                <a:effectLst/>
                <a:uFillTx/>
                <a:latin typeface="JetBrainsMono NF"/>
                <a:ea typeface="JetBrainsMono NF"/>
              </a:rPr>
              <a:t>DATA DE ENVIO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9884520" y="5577840"/>
            <a:ext cx="1553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momento do registro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585360" y="6473880"/>
            <a:ext cx="99662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Diagrama Mermaid: docs/diagrams/critical-notification.mmd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1"/>
          <p:cNvSpPr>
            <a:spLocks noGrp="1"/>
          </p:cNvSpPr>
          <p:nvPr>
            <p:ph type="sldNum" idx="11"/>
          </p:nvPr>
        </p:nvSpPr>
        <p:spPr>
          <a:xfrm>
            <a:off x="11292840" y="6473880"/>
            <a:ext cx="410760" cy="16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1A264FC-CA4B-45E8-AD99-6CDAACF27AFD}" type="slidenum">
              <a: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&lt;number&gt;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/>
          <p:nvPr/>
        </p:nvSpPr>
        <p:spPr>
          <a:xfrm>
            <a:off x="567000" y="329040"/>
            <a:ext cx="4022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39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FUNCIONAMENTO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567000" y="64908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Relatório semanal consolidado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"/>
          <p:cNvSpPr/>
          <p:nvPr/>
        </p:nvSpPr>
        <p:spPr>
          <a:xfrm>
            <a:off x="585360" y="1170360"/>
            <a:ext cx="10834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EventBridge inicia o processamento; DynamoDB fornece os dados e SES entrega o resultado.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"/>
          <p:cNvSpPr/>
          <p:nvPr/>
        </p:nvSpPr>
        <p:spPr>
          <a:xfrm>
            <a:off x="502920" y="1944000"/>
            <a:ext cx="7680240" cy="3455640"/>
          </a:xfrm>
          <a:prstGeom prst="roundRect">
            <a:avLst>
              <a:gd name="adj" fmla="val 2116"/>
            </a:avLst>
          </a:prstGeom>
          <a:solidFill>
            <a:srgbClr val="07131F"/>
          </a:solidFill>
          <a:ln w="12700">
            <a:solidFill>
              <a:srgbClr val="3151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0" descr="docs/diagrams/rendered/weekly-report.png"/>
          <p:cNvPicPr/>
          <p:nvPr/>
        </p:nvPicPr>
        <p:blipFill>
          <a:blip r:embed="rId1"/>
          <a:stretch/>
        </p:blipFill>
        <p:spPr>
          <a:xfrm>
            <a:off x="658440" y="2303640"/>
            <a:ext cx="7360200" cy="272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Shape 4"/>
          <p:cNvSpPr/>
          <p:nvPr/>
        </p:nvSpPr>
        <p:spPr>
          <a:xfrm>
            <a:off x="8458200" y="1944000"/>
            <a:ext cx="3172320" cy="3455640"/>
          </a:xfrm>
          <a:prstGeom prst="roundRect">
            <a:avLst>
              <a:gd name="adj" fmla="val 2305"/>
            </a:avLst>
          </a:prstGeom>
          <a:solidFill>
            <a:srgbClr val="102334"/>
          </a:solidFill>
          <a:ln w="12700">
            <a:solidFill>
              <a:srgbClr val="FF9D3D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8732520" y="2264040"/>
            <a:ext cx="2468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9D3D"/>
                </a:solidFill>
                <a:effectLst/>
                <a:uFillTx/>
                <a:latin typeface="JetBrainsMono NF"/>
                <a:ea typeface="JetBrainsMono NF"/>
              </a:rPr>
              <a:t>CONTEÚDO DO RELATÓRIO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6"/>
          <p:cNvSpPr/>
          <p:nvPr/>
        </p:nvSpPr>
        <p:spPr>
          <a:xfrm>
            <a:off x="8686800" y="2712240"/>
            <a:ext cx="242244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marL="149400" indent="-1494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98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Média das avaliações</a:t>
            </a:r>
            <a:endParaRPr lang="pt-B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49400" indent="-1494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98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Quantidade por dia</a:t>
            </a:r>
            <a:endParaRPr lang="pt-B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49400" indent="-1494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98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Quantidade por urgência</a:t>
            </a:r>
            <a:endParaRPr lang="pt-B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49400" indent="-1494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98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Lista dos feedbacks</a:t>
            </a:r>
            <a:endParaRPr lang="pt-B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49400" indent="-149400" defTabSz="914400">
              <a:lnSpc>
                <a:spcPct val="100000"/>
              </a:lnSpc>
              <a:buClr>
                <a:srgbClr val="DCE6ED"/>
              </a:buClr>
              <a:buFont typeface="Symbol" charset="2"/>
              <a:buChar char=""/>
            </a:pPr>
            <a:r>
              <a:rPr lang="en-US" sz="980" b="0" u="none" strike="noStrike">
                <a:solidFill>
                  <a:srgbClr val="DCE6ED"/>
                </a:solidFill>
                <a:effectLst/>
                <a:uFillTx/>
                <a:latin typeface="JetBrainsMono NF"/>
                <a:ea typeface="JetBrainsMono NF"/>
              </a:rPr>
              <a:t>Destaque dos casos críticos</a:t>
            </a:r>
            <a:endParaRPr lang="pt-B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585360" y="6473880"/>
            <a:ext cx="99662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Diagrama Mermaid: docs/diagrams/weekly-report.mmd 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sldNum" idx="12"/>
          </p:nvPr>
        </p:nvSpPr>
        <p:spPr>
          <a:xfrm>
            <a:off x="11292840" y="6473880"/>
            <a:ext cx="410760" cy="16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EA3009-87EE-4021-A8CC-B6BCECA8698E}" type="slidenum">
              <a: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&lt;number&gt;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/>
          <p:nvPr/>
        </p:nvSpPr>
        <p:spPr>
          <a:xfrm>
            <a:off x="567000" y="329040"/>
            <a:ext cx="4022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39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VISÃO FIM A FIM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567000" y="64908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Do feedback à decisão administrativa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585360" y="1170360"/>
            <a:ext cx="10834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Uma arquitetura orientada a eventos, com componentes independentes e observáveis.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"/>
          <p:cNvSpPr/>
          <p:nvPr/>
        </p:nvSpPr>
        <p:spPr>
          <a:xfrm>
            <a:off x="502920" y="1828800"/>
            <a:ext cx="1956240" cy="1462320"/>
          </a:xfrm>
          <a:prstGeom prst="roundRect">
            <a:avLst>
              <a:gd name="adj" fmla="val 5000"/>
            </a:avLst>
          </a:prstGeom>
          <a:solidFill>
            <a:srgbClr val="102334"/>
          </a:solidFill>
          <a:ln w="12700">
            <a:solidFill>
              <a:srgbClr val="51D39A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685800" y="203004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1D39A"/>
                </a:solidFill>
                <a:effectLst/>
                <a:uFillTx/>
                <a:latin typeface="JetBrainsMono NF"/>
                <a:ea typeface="JetBrainsMono NF"/>
              </a:rPr>
              <a:t>01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685800" y="2514600"/>
            <a:ext cx="1553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RECEBER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685800" y="2880360"/>
            <a:ext cx="1553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API Gateway</a:t>
            </a:r>
            <a:endParaRPr lang="pt-BR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7"/>
          <p:cNvSpPr/>
          <p:nvPr/>
        </p:nvSpPr>
        <p:spPr>
          <a:xfrm>
            <a:off x="2459520" y="2560320"/>
            <a:ext cx="292680" cy="360"/>
          </a:xfrm>
          <a:prstGeom prst="line">
            <a:avLst/>
          </a:prstGeom>
          <a:ln w="15240">
            <a:solidFill>
              <a:srgbClr val="3151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8"/>
          <p:cNvSpPr/>
          <p:nvPr/>
        </p:nvSpPr>
        <p:spPr>
          <a:xfrm>
            <a:off x="2807280" y="1828800"/>
            <a:ext cx="1956240" cy="1462320"/>
          </a:xfrm>
          <a:prstGeom prst="roundRect">
            <a:avLst>
              <a:gd name="adj" fmla="val 5000"/>
            </a:avLst>
          </a:prstGeom>
          <a:solidFill>
            <a:srgbClr val="102334"/>
          </a:solidFill>
          <a:ln w="12700">
            <a:solidFill>
              <a:srgbClr val="25C2D4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9"/>
          <p:cNvSpPr/>
          <p:nvPr/>
        </p:nvSpPr>
        <p:spPr>
          <a:xfrm>
            <a:off x="2990160" y="203004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02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0"/>
          <p:cNvSpPr/>
          <p:nvPr/>
        </p:nvSpPr>
        <p:spPr>
          <a:xfrm>
            <a:off x="2990160" y="2514600"/>
            <a:ext cx="1553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CLASSIFICAR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1"/>
          <p:cNvSpPr/>
          <p:nvPr/>
        </p:nvSpPr>
        <p:spPr>
          <a:xfrm>
            <a:off x="2990160" y="2880360"/>
            <a:ext cx="1553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feedback-api</a:t>
            </a:r>
            <a:endParaRPr lang="pt-BR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2"/>
          <p:cNvSpPr/>
          <p:nvPr/>
        </p:nvSpPr>
        <p:spPr>
          <a:xfrm>
            <a:off x="4763880" y="2560320"/>
            <a:ext cx="292680" cy="360"/>
          </a:xfrm>
          <a:prstGeom prst="line">
            <a:avLst/>
          </a:prstGeom>
          <a:ln w="15240">
            <a:solidFill>
              <a:srgbClr val="3151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3"/>
          <p:cNvSpPr/>
          <p:nvPr/>
        </p:nvSpPr>
        <p:spPr>
          <a:xfrm>
            <a:off x="5111640" y="1828800"/>
            <a:ext cx="1956240" cy="1462320"/>
          </a:xfrm>
          <a:prstGeom prst="roundRect">
            <a:avLst>
              <a:gd name="adj" fmla="val 5000"/>
            </a:avLst>
          </a:prstGeom>
          <a:solidFill>
            <a:srgbClr val="102334"/>
          </a:solidFill>
          <a:ln w="12700">
            <a:solidFill>
              <a:srgbClr val="FF9D3D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4"/>
          <p:cNvSpPr/>
          <p:nvPr/>
        </p:nvSpPr>
        <p:spPr>
          <a:xfrm>
            <a:off x="5294520" y="203004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9D3D"/>
                </a:solidFill>
                <a:effectLst/>
                <a:uFillTx/>
                <a:latin typeface="JetBrainsMono NF"/>
                <a:ea typeface="JetBrainsMono NF"/>
              </a:rPr>
              <a:t>03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5"/>
          <p:cNvSpPr/>
          <p:nvPr/>
        </p:nvSpPr>
        <p:spPr>
          <a:xfrm>
            <a:off x="5294520" y="2514600"/>
            <a:ext cx="1553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PERSISTIR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6"/>
          <p:cNvSpPr/>
          <p:nvPr/>
        </p:nvSpPr>
        <p:spPr>
          <a:xfrm>
            <a:off x="5294520" y="2880360"/>
            <a:ext cx="1553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DynamoDB</a:t>
            </a:r>
            <a:endParaRPr lang="pt-BR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7"/>
          <p:cNvSpPr/>
          <p:nvPr/>
        </p:nvSpPr>
        <p:spPr>
          <a:xfrm>
            <a:off x="7068240" y="2560320"/>
            <a:ext cx="292680" cy="360"/>
          </a:xfrm>
          <a:prstGeom prst="line">
            <a:avLst/>
          </a:prstGeom>
          <a:ln w="15240">
            <a:solidFill>
              <a:srgbClr val="3151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8"/>
          <p:cNvSpPr/>
          <p:nvPr/>
        </p:nvSpPr>
        <p:spPr>
          <a:xfrm>
            <a:off x="7415640" y="1828800"/>
            <a:ext cx="1956240" cy="1462320"/>
          </a:xfrm>
          <a:prstGeom prst="roundRect">
            <a:avLst>
              <a:gd name="adj" fmla="val 5000"/>
            </a:avLst>
          </a:prstGeom>
          <a:solidFill>
            <a:srgbClr val="102334"/>
          </a:solidFill>
          <a:ln w="12700">
            <a:solidFill>
              <a:srgbClr val="FF667A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9"/>
          <p:cNvSpPr/>
          <p:nvPr/>
        </p:nvSpPr>
        <p:spPr>
          <a:xfrm>
            <a:off x="7598520" y="203004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667A"/>
                </a:solidFill>
                <a:effectLst/>
                <a:uFillTx/>
                <a:latin typeface="JetBrainsMono NF"/>
                <a:ea typeface="JetBrainsMono NF"/>
              </a:rPr>
              <a:t>04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0"/>
          <p:cNvSpPr/>
          <p:nvPr/>
        </p:nvSpPr>
        <p:spPr>
          <a:xfrm>
            <a:off x="7598520" y="2514600"/>
            <a:ext cx="1553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NOTIFICAR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1"/>
          <p:cNvSpPr/>
          <p:nvPr/>
        </p:nvSpPr>
        <p:spPr>
          <a:xfrm>
            <a:off x="7598520" y="2880360"/>
            <a:ext cx="1553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SNS + SES</a:t>
            </a:r>
            <a:endParaRPr lang="pt-BR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2"/>
          <p:cNvSpPr/>
          <p:nvPr/>
        </p:nvSpPr>
        <p:spPr>
          <a:xfrm>
            <a:off x="9372600" y="2560320"/>
            <a:ext cx="292320" cy="360"/>
          </a:xfrm>
          <a:prstGeom prst="line">
            <a:avLst/>
          </a:prstGeom>
          <a:ln w="15240">
            <a:solidFill>
              <a:srgbClr val="3151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3"/>
          <p:cNvSpPr/>
          <p:nvPr/>
        </p:nvSpPr>
        <p:spPr>
          <a:xfrm>
            <a:off x="9720000" y="1828800"/>
            <a:ext cx="1956240" cy="1462320"/>
          </a:xfrm>
          <a:prstGeom prst="roundRect">
            <a:avLst>
              <a:gd name="adj" fmla="val 5000"/>
            </a:avLst>
          </a:prstGeom>
          <a:solidFill>
            <a:srgbClr val="102334"/>
          </a:solidFill>
          <a:ln w="12700">
            <a:solidFill>
              <a:srgbClr val="FF9D3D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4"/>
          <p:cNvSpPr/>
          <p:nvPr/>
        </p:nvSpPr>
        <p:spPr>
          <a:xfrm>
            <a:off x="9902880" y="203004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9D3D"/>
                </a:solidFill>
                <a:effectLst/>
                <a:uFillTx/>
                <a:latin typeface="JetBrainsMono NF"/>
                <a:ea typeface="JetBrainsMono NF"/>
              </a:rPr>
              <a:t>05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5"/>
          <p:cNvSpPr/>
          <p:nvPr/>
        </p:nvSpPr>
        <p:spPr>
          <a:xfrm>
            <a:off x="9902880" y="2514600"/>
            <a:ext cx="1553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CONSOLIDAR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6"/>
          <p:cNvSpPr/>
          <p:nvPr/>
        </p:nvSpPr>
        <p:spPr>
          <a:xfrm>
            <a:off x="9902880" y="2880360"/>
            <a:ext cx="1553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EventBridge + relatório</a:t>
            </a:r>
            <a:endParaRPr lang="pt-BR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7"/>
          <p:cNvSpPr/>
          <p:nvPr/>
        </p:nvSpPr>
        <p:spPr>
          <a:xfrm>
            <a:off x="731520" y="3977640"/>
            <a:ext cx="10743480" cy="1352520"/>
          </a:xfrm>
          <a:prstGeom prst="roundRect">
            <a:avLst>
              <a:gd name="adj" fmla="val 5405"/>
            </a:avLst>
          </a:prstGeom>
          <a:solidFill>
            <a:srgbClr val="153044"/>
          </a:solidFill>
          <a:ln w="12700">
            <a:solidFill>
              <a:srgbClr val="52D39A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8"/>
          <p:cNvSpPr/>
          <p:nvPr/>
        </p:nvSpPr>
        <p:spPr>
          <a:xfrm>
            <a:off x="987480" y="4178880"/>
            <a:ext cx="2971080" cy="959400"/>
          </a:xfrm>
          <a:prstGeom prst="roundRect">
            <a:avLst>
              <a:gd name="adj" fmla="val 7619"/>
            </a:avLst>
          </a:prstGeom>
          <a:solidFill>
            <a:srgbClr val="153044"/>
          </a:solidFill>
          <a:ln w="12700">
            <a:solidFill>
              <a:srgbClr val="52D39A"/>
            </a:solidFill>
            <a:round/>
          </a:ln>
          <a:effectLst>
            <a:outerShdw algn="bl" blurRad="25560" dir="2700000" dist="49893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9"/>
          <p:cNvSpPr/>
          <p:nvPr/>
        </p:nvSpPr>
        <p:spPr>
          <a:xfrm>
            <a:off x="1152000" y="4361760"/>
            <a:ext cx="255240" cy="255240"/>
          </a:xfrm>
          <a:prstGeom prst="ellipse">
            <a:avLst/>
          </a:prstGeom>
          <a:solidFill>
            <a:srgbClr val="52D39A"/>
          </a:solidFill>
          <a:ln w="12700">
            <a:solidFill>
              <a:srgbClr val="52D39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0"/>
          <p:cNvSpPr/>
          <p:nvPr/>
        </p:nvSpPr>
        <p:spPr>
          <a:xfrm>
            <a:off x="1554480" y="4325040"/>
            <a:ext cx="2221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F8FA"/>
                </a:solidFill>
                <a:effectLst/>
                <a:uFillTx/>
                <a:latin typeface="JetBrainsMono NF"/>
                <a:ea typeface="JetBrainsMono NF"/>
              </a:rPr>
              <a:t>CloudWatch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1"/>
          <p:cNvSpPr/>
          <p:nvPr/>
        </p:nvSpPr>
        <p:spPr>
          <a:xfrm>
            <a:off x="1554480" y="4663440"/>
            <a:ext cx="222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1A6B6"/>
                </a:solidFill>
                <a:effectLst/>
                <a:uFillTx/>
                <a:latin typeface="JetBrainsMono NF"/>
                <a:ea typeface="JetBrainsMono NF"/>
              </a:rPr>
              <a:t>centraliza logs, métricas e alarmes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2"/>
          <p:cNvSpPr/>
          <p:nvPr/>
        </p:nvSpPr>
        <p:spPr>
          <a:xfrm>
            <a:off x="4572000" y="4407480"/>
            <a:ext cx="1370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25C2D4"/>
                </a:solidFill>
                <a:effectLst/>
                <a:uFillTx/>
                <a:latin typeface="JetBrainsMono NF"/>
                <a:ea typeface="JetBrainsMono NF"/>
              </a:rPr>
              <a:t>Invocações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3"/>
          <p:cNvSpPr/>
          <p:nvPr/>
        </p:nvSpPr>
        <p:spPr>
          <a:xfrm>
            <a:off x="6217920" y="4407480"/>
            <a:ext cx="1142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667A"/>
                </a:solidFill>
                <a:effectLst/>
                <a:uFillTx/>
                <a:latin typeface="JetBrainsMono NF"/>
                <a:ea typeface="JetBrainsMono NF"/>
              </a:rPr>
              <a:t>Erros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4"/>
          <p:cNvSpPr/>
          <p:nvPr/>
        </p:nvSpPr>
        <p:spPr>
          <a:xfrm>
            <a:off x="7635240" y="4407480"/>
            <a:ext cx="1416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3C969"/>
                </a:solidFill>
                <a:effectLst/>
                <a:uFillTx/>
                <a:latin typeface="JetBrainsMono NF"/>
                <a:ea typeface="JetBrainsMono NF"/>
              </a:rPr>
              <a:t>Throttling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5"/>
          <p:cNvSpPr/>
          <p:nvPr/>
        </p:nvSpPr>
        <p:spPr>
          <a:xfrm>
            <a:off x="9189720" y="4407480"/>
            <a:ext cx="1690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9D3D"/>
                </a:solidFill>
                <a:effectLst/>
                <a:uFillTx/>
                <a:latin typeface="JetBrainsMono NF"/>
                <a:ea typeface="JetBrainsMono NF"/>
              </a:rPr>
              <a:t>Relatório semanal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6"/>
          <p:cNvSpPr/>
          <p:nvPr/>
        </p:nvSpPr>
        <p:spPr>
          <a:xfrm>
            <a:off x="2011680" y="5870520"/>
            <a:ext cx="8137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DE7EE"/>
                </a:solidFill>
                <a:effectLst/>
                <a:uFillTx/>
                <a:latin typeface="JetBrainsMono NF"/>
                <a:ea typeface="JetBrainsMono NF"/>
              </a:rPr>
              <a:t>RECEBER  ·  REAGIR  ·  CONSOLIDAR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7"/>
          <p:cNvSpPr/>
          <p:nvPr/>
        </p:nvSpPr>
        <p:spPr>
          <a:xfrm>
            <a:off x="585360" y="6473880"/>
            <a:ext cx="99662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Fonte: arquitetura e fluxos da Plataforma de Feedback Educacional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1"/>
          <p:cNvSpPr>
            <a:spLocks noGrp="1"/>
          </p:cNvSpPr>
          <p:nvPr>
            <p:ph type="sldNum" idx="13"/>
          </p:nvPr>
        </p:nvSpPr>
        <p:spPr>
          <a:xfrm>
            <a:off x="11292840" y="6473880"/>
            <a:ext cx="410760" cy="16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92C373-9B7C-4FDB-ABCE-3654F4CAAF9D}" type="slidenum">
              <a:rPr lang="en-US" sz="800" b="0" u="none" strike="noStrike">
                <a:solidFill>
                  <a:srgbClr val="71869A"/>
                </a:solidFill>
                <a:effectLst/>
                <a:uFillTx/>
                <a:latin typeface="JetBrainsMono NF"/>
                <a:ea typeface="JetBrainsMono NF"/>
              </a:rPr>
              <a:t>&lt;number&gt;</a:t>
            </a:fld>
            <a:endParaRPr lang="pt-BR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JetBrainsMono NF" pitchFamily="0" charset="1"/>
        <a:ea typeface=""/>
        <a:cs typeface=""/>
      </a:majorFont>
      <a:minorFont>
        <a:latin typeface="JetBrainsMono NF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LibreOffice/26.2.4.2$Linux_X86_64 LibreOffice_project/620$Build-2</Application>
  <AppVersion>15.0000</AppVersion>
  <Words>0</Words>
  <Paragraphs>0</Paragraphs>
  <Company>FIAP Pos Tech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2026-07-26T20:58:45Z</dcterms:created>
  <dc:creator>Tech Challenge IV</dc:creator>
  <dc:description/>
  <dc:language>pt-BR</dc:language>
  <cp:lastModifiedBy/>
  <dcterms:modified xsi:type="dcterms:W3CDTF">2026-07-26T21:22:19Z</dcterms:modified>
  <cp:revision>4</cp:revision>
  <dc:subject>Arquitetura e funcionamento da Plataforma de Feedback Educacional</dc:subject>
  <dc:title>Plataforma de Feedback Educacional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